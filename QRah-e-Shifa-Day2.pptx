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2"/>
  </p:notesMasterIdLst>
  <p:sldIdLst>
    <p:sldId id="264" r:id="rId2"/>
    <p:sldId id="257" r:id="rId3"/>
    <p:sldId id="265" r:id="rId4"/>
    <p:sldId id="267" r:id="rId5"/>
    <p:sldId id="272" r:id="rId6"/>
    <p:sldId id="273" r:id="rId7"/>
    <p:sldId id="266" r:id="rId8"/>
    <p:sldId id="271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61" autoAdjust="0"/>
    <p:restoredTop sz="94343"/>
  </p:normalViewPr>
  <p:slideViewPr>
    <p:cSldViewPr snapToGrid="0">
      <p:cViewPr>
        <p:scale>
          <a:sx n="84" d="100"/>
          <a:sy n="84" d="100"/>
        </p:scale>
        <p:origin x="41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6A62C-AE18-0842-8373-9E0B239AB2C9}" type="datetimeFigureOut">
              <a:rPr lang="en-PK" smtClean="0"/>
              <a:t>10/03/2026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3354F-50E8-7F46-B624-6885EA700D7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278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F236-5F7B-98D5-1218-D52BE9B8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6439B-B9E2-E0C6-46BC-385622479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F1200-9C31-1694-BB39-EFC733D68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EA0E2-35EA-D5B7-22DD-7F0C48DF3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69777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SDG 11---- </a:t>
            </a:r>
            <a:r>
              <a:rPr lang="en-GB" dirty="0"/>
              <a:t>improves </a:t>
            </a:r>
            <a:r>
              <a:rPr lang="en-GB" b="1" dirty="0"/>
              <a:t>urban emergency mobility</a:t>
            </a:r>
            <a:r>
              <a:rPr lang="en-GB" dirty="0"/>
              <a:t>, making cities safer</a:t>
            </a:r>
          </a:p>
          <a:p>
            <a:r>
              <a:rPr lang="en-GB" dirty="0"/>
              <a:t>SDG 16--- </a:t>
            </a:r>
          </a:p>
          <a:p>
            <a:r>
              <a:rPr lang="en-GB" b="1" dirty="0"/>
              <a:t>Target 16.6</a:t>
            </a:r>
            <a:r>
              <a:rPr lang="en-GB" dirty="0"/>
              <a:t> (effective, accountable institutions)</a:t>
            </a:r>
          </a:p>
          <a:p>
            <a:endParaRPr lang="en-GB" dirty="0"/>
          </a:p>
          <a:p>
            <a:r>
              <a:rPr lang="en-GB" dirty="0"/>
              <a:t>QAOA: Quantum Approximation Optimization Algorithm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88764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A19D6-58BF-AEE3-BD51-7B8BDFE0D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F8AD6-7F2D-1CDC-C6C8-B479E15D1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2DFFC-DA9A-E628-6BF7-C100D3401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SDG 11---- </a:t>
            </a:r>
            <a:r>
              <a:rPr lang="en-GB" dirty="0"/>
              <a:t>improves </a:t>
            </a:r>
            <a:r>
              <a:rPr lang="en-GB" b="1" dirty="0"/>
              <a:t>urban emergency mobility</a:t>
            </a:r>
            <a:r>
              <a:rPr lang="en-GB" dirty="0"/>
              <a:t>, making cities safer</a:t>
            </a:r>
          </a:p>
          <a:p>
            <a:r>
              <a:rPr lang="en-GB" dirty="0"/>
              <a:t>SDG 16--- </a:t>
            </a:r>
          </a:p>
          <a:p>
            <a:r>
              <a:rPr lang="en-GB" b="1" dirty="0"/>
              <a:t>Target 16.6</a:t>
            </a:r>
            <a:r>
              <a:rPr lang="en-GB" dirty="0"/>
              <a:t> (effective, accountable institutions)</a:t>
            </a:r>
          </a:p>
          <a:p>
            <a:endParaRPr lang="en-GB" dirty="0"/>
          </a:p>
          <a:p>
            <a:r>
              <a:rPr lang="en-GB" dirty="0"/>
              <a:t>QAOA: Quantum Approximation Optimization Algorithm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031A1-5331-E66C-567C-B703AB1A1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68932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8EFB-F8E5-8326-E96A-92F17CA22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F9501-2584-F68D-E4B2-9CEB8F249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F5285-6BA4-EAD8-A4A4-F54F2AA1D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SDG 11---- </a:t>
            </a:r>
            <a:r>
              <a:rPr lang="en-GB" dirty="0"/>
              <a:t>improves </a:t>
            </a:r>
            <a:r>
              <a:rPr lang="en-GB" b="1" dirty="0"/>
              <a:t>urban emergency mobility</a:t>
            </a:r>
            <a:r>
              <a:rPr lang="en-GB" dirty="0"/>
              <a:t>, making cities safer</a:t>
            </a:r>
          </a:p>
          <a:p>
            <a:r>
              <a:rPr lang="en-GB" dirty="0"/>
              <a:t>SDG 16--- </a:t>
            </a:r>
          </a:p>
          <a:p>
            <a:r>
              <a:rPr lang="en-GB" b="1" dirty="0"/>
              <a:t>Target 16.6</a:t>
            </a:r>
            <a:r>
              <a:rPr lang="en-GB" dirty="0"/>
              <a:t> (effective, accountable institutions)</a:t>
            </a:r>
          </a:p>
          <a:p>
            <a:endParaRPr lang="en-GB" dirty="0"/>
          </a:p>
          <a:p>
            <a:r>
              <a:rPr lang="en-GB" dirty="0"/>
              <a:t>QAOA: Quantum Approximation Optimization Algorithm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41926-09FF-F71D-87C0-FE311A755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82467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38E8-EC33-897B-71AA-F038F636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AD468-6EF7-256E-3F1B-D37485092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B1CF4-65E0-175C-4763-7BE3A53B9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SDG 11---- </a:t>
            </a:r>
            <a:r>
              <a:rPr lang="en-GB" dirty="0"/>
              <a:t>improves </a:t>
            </a:r>
            <a:r>
              <a:rPr lang="en-GB" b="1" dirty="0"/>
              <a:t>urban emergency mobility</a:t>
            </a:r>
            <a:r>
              <a:rPr lang="en-GB" dirty="0"/>
              <a:t>, making cities safer</a:t>
            </a:r>
          </a:p>
          <a:p>
            <a:r>
              <a:rPr lang="en-GB" dirty="0"/>
              <a:t>SDG 16--- </a:t>
            </a:r>
          </a:p>
          <a:p>
            <a:r>
              <a:rPr lang="en-GB" b="1" dirty="0"/>
              <a:t>Target 16.6</a:t>
            </a:r>
            <a:r>
              <a:rPr lang="en-GB" dirty="0"/>
              <a:t> (effective, accountable institutions)</a:t>
            </a:r>
          </a:p>
          <a:p>
            <a:endParaRPr lang="en-GB" dirty="0"/>
          </a:p>
          <a:p>
            <a:r>
              <a:rPr lang="en-GB" dirty="0"/>
              <a:t>QAOA: Quantum Approximation Optimization Algorithm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A41C7-AD1E-08E5-F03B-83B2B087C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79168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63527-E727-9F09-D61C-B3592921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371F0-3CD4-111F-6B40-1AEB2FD8E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600FD-52EA-1FA4-0623-F45956E0B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SDG 11---- </a:t>
            </a:r>
            <a:r>
              <a:rPr lang="en-GB" dirty="0"/>
              <a:t>improves </a:t>
            </a:r>
            <a:r>
              <a:rPr lang="en-GB" b="1" dirty="0"/>
              <a:t>urban emergency mobility</a:t>
            </a:r>
            <a:r>
              <a:rPr lang="en-GB" dirty="0"/>
              <a:t>, making cities safer</a:t>
            </a:r>
          </a:p>
          <a:p>
            <a:r>
              <a:rPr lang="en-GB" dirty="0"/>
              <a:t>SDG 16--- </a:t>
            </a:r>
          </a:p>
          <a:p>
            <a:r>
              <a:rPr lang="en-GB" b="1" dirty="0"/>
              <a:t>Target 16.6</a:t>
            </a:r>
            <a:r>
              <a:rPr lang="en-GB" dirty="0"/>
              <a:t> (effective, accountable institutions)</a:t>
            </a:r>
          </a:p>
          <a:p>
            <a:endParaRPr lang="en-GB" dirty="0"/>
          </a:p>
          <a:p>
            <a:r>
              <a:rPr lang="en-GB" dirty="0"/>
              <a:t>QAOA: Quantum Approximation Optimization Algorithm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BCB4C-9722-62A0-F72D-D717E0147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0012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16608-C487-9124-133A-9FB8DE2A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94B40-52CA-8592-1DD0-47199E9A1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02C07-AF56-D6A2-9C48-8FA510E06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SDG 11---- </a:t>
            </a:r>
            <a:r>
              <a:rPr lang="en-GB" dirty="0"/>
              <a:t>improves </a:t>
            </a:r>
            <a:r>
              <a:rPr lang="en-GB" b="1" dirty="0"/>
              <a:t>urban emergency mobility</a:t>
            </a:r>
            <a:r>
              <a:rPr lang="en-GB" dirty="0"/>
              <a:t>, making cities safer</a:t>
            </a:r>
          </a:p>
          <a:p>
            <a:r>
              <a:rPr lang="en-GB" dirty="0"/>
              <a:t>SDG 16--- </a:t>
            </a:r>
          </a:p>
          <a:p>
            <a:r>
              <a:rPr lang="en-GB" b="1" dirty="0"/>
              <a:t>Target 16.6</a:t>
            </a:r>
            <a:r>
              <a:rPr lang="en-GB" dirty="0"/>
              <a:t> (effective, accountable institutions)</a:t>
            </a:r>
          </a:p>
          <a:p>
            <a:endParaRPr lang="en-GB" dirty="0"/>
          </a:p>
          <a:p>
            <a:r>
              <a:rPr lang="en-GB" dirty="0"/>
              <a:t>QAOA: Quantum Approximation Optimization Algorithm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89250-9571-CC14-1F9F-E78DEA7A3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141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281C-2286-33AF-B2A5-9B14F02A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A7003-1E45-9C7A-8C52-FC705A3C5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6F95F-54FC-FA6D-0B47-A9FB6DEF3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SDG 11---- </a:t>
            </a:r>
            <a:r>
              <a:rPr lang="en-GB" dirty="0"/>
              <a:t>improves </a:t>
            </a:r>
            <a:r>
              <a:rPr lang="en-GB" b="1" dirty="0"/>
              <a:t>urban emergency mobility</a:t>
            </a:r>
            <a:r>
              <a:rPr lang="en-GB" dirty="0"/>
              <a:t>, making cities safer</a:t>
            </a:r>
          </a:p>
          <a:p>
            <a:r>
              <a:rPr lang="en-GB" dirty="0"/>
              <a:t>SDG 16--- </a:t>
            </a:r>
          </a:p>
          <a:p>
            <a:r>
              <a:rPr lang="en-GB" b="1" dirty="0"/>
              <a:t>Target 16.6</a:t>
            </a:r>
            <a:r>
              <a:rPr lang="en-GB" dirty="0"/>
              <a:t> (effective, accountable institutions)</a:t>
            </a:r>
          </a:p>
          <a:p>
            <a:endParaRPr lang="en-GB" dirty="0"/>
          </a:p>
          <a:p>
            <a:r>
              <a:rPr lang="en-GB" dirty="0"/>
              <a:t>QAOA: Quantum Approximation Optimization Algorithm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812FE-ABAA-2014-A7A6-4C0295988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0913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11795-F7C4-5233-3333-FD6AD561E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0BDC0-DECA-A706-C621-982DFC1A9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9461B-184E-1A8A-673E-13BD06981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SDG 11---- </a:t>
            </a:r>
            <a:r>
              <a:rPr lang="en-GB" dirty="0"/>
              <a:t>improves </a:t>
            </a:r>
            <a:r>
              <a:rPr lang="en-GB" b="1" dirty="0"/>
              <a:t>urban emergency mobility</a:t>
            </a:r>
            <a:r>
              <a:rPr lang="en-GB" dirty="0"/>
              <a:t>, making cities safer</a:t>
            </a:r>
          </a:p>
          <a:p>
            <a:r>
              <a:rPr lang="en-GB" dirty="0"/>
              <a:t>SDG 16--- </a:t>
            </a:r>
          </a:p>
          <a:p>
            <a:r>
              <a:rPr lang="en-GB" b="1" dirty="0"/>
              <a:t>Target 16.6</a:t>
            </a:r>
            <a:r>
              <a:rPr lang="en-GB" dirty="0"/>
              <a:t> (effective, accountable institutions)</a:t>
            </a:r>
          </a:p>
          <a:p>
            <a:endParaRPr lang="en-GB" dirty="0"/>
          </a:p>
          <a:p>
            <a:r>
              <a:rPr lang="en-GB" dirty="0"/>
              <a:t>QAOA: Quantum Approximation Optimization Algorithm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9D98B-D076-87C0-9F45-73FA02EE3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28788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49AF8-E91C-3274-A4BA-EE782304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E6277-FAA9-17D4-45C1-17E012092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0AD5C-08FA-3D32-E2AD-C9647D08C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SDG 11---- </a:t>
            </a:r>
            <a:r>
              <a:rPr lang="en-GB" dirty="0"/>
              <a:t>improves </a:t>
            </a:r>
            <a:r>
              <a:rPr lang="en-GB" b="1" dirty="0"/>
              <a:t>urban emergency mobility</a:t>
            </a:r>
            <a:r>
              <a:rPr lang="en-GB" dirty="0"/>
              <a:t>, making cities safer</a:t>
            </a:r>
          </a:p>
          <a:p>
            <a:r>
              <a:rPr lang="en-GB" dirty="0"/>
              <a:t>SDG 16--- </a:t>
            </a:r>
          </a:p>
          <a:p>
            <a:r>
              <a:rPr lang="en-GB" b="1" dirty="0"/>
              <a:t>Target 16.6</a:t>
            </a:r>
            <a:r>
              <a:rPr lang="en-GB" dirty="0"/>
              <a:t> (effective, accountable institutions)</a:t>
            </a:r>
          </a:p>
          <a:p>
            <a:endParaRPr lang="en-GB" dirty="0"/>
          </a:p>
          <a:p>
            <a:r>
              <a:rPr lang="en-GB" dirty="0"/>
              <a:t>QAOA: Quantum Approximation Optimization Algorithm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DAA8C-5F23-6288-7022-AD130BD74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34270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FF645-4139-69E6-3EF9-1A948F0E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047420E-6604-A0CA-B677-502B26034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608735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9C30A5-C018-2910-AE2B-D26430EE1F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43" r="7732" b="3"/>
          <a:stretch>
            <a:fillRect/>
          </a:stretch>
        </p:blipFill>
        <p:spPr>
          <a:xfrm>
            <a:off x="80638" y="452082"/>
            <a:ext cx="5193342" cy="59538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AC8C1B-6DA6-BFE2-D79D-002100E52E83}"/>
              </a:ext>
            </a:extLst>
          </p:cNvPr>
          <p:cNvSpPr/>
          <p:nvPr/>
        </p:nvSpPr>
        <p:spPr>
          <a:xfrm>
            <a:off x="5172075" y="0"/>
            <a:ext cx="1374302" cy="6858000"/>
          </a:xfrm>
          <a:prstGeom prst="rect">
            <a:avLst/>
          </a:prstGeom>
          <a:solidFill>
            <a:srgbClr val="353537"/>
          </a:solidFill>
          <a:ln w="3175">
            <a:solidFill>
              <a:srgbClr val="3535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477572-3972-AEED-E448-28A43B66D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9067" y="860758"/>
            <a:ext cx="5507102" cy="140017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err="1"/>
              <a:t>QRah</a:t>
            </a:r>
            <a:r>
              <a:rPr lang="en-US" sz="4000" b="1" dirty="0"/>
              <a:t>-e-Shifa</a:t>
            </a:r>
            <a:br>
              <a:rPr lang="en-US" sz="4000" b="1" dirty="0"/>
            </a:br>
            <a:r>
              <a:rPr lang="en-US" sz="4000" b="1" dirty="0"/>
              <a:t>(Route to Cure)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4C93F-EBFA-60BE-EAB9-CBF9B73B3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9983" y="2807368"/>
            <a:ext cx="6465737" cy="1852561"/>
          </a:xfrm>
        </p:spPr>
        <p:txBody>
          <a:bodyPr>
            <a:normAutofit fontScale="92500"/>
          </a:bodyPr>
          <a:lstStyle/>
          <a:p>
            <a:r>
              <a:rPr lang="en-US" sz="4200" dirty="0">
                <a:solidFill>
                  <a:srgbClr val="FFFFFF"/>
                </a:solidFill>
                <a:cs typeface="Arial" panose="020B0604020202020204" pitchFamily="34" charset="0"/>
              </a:rPr>
              <a:t>Ambulance deployment and Hospital allocation for rapid Emergency Response</a:t>
            </a:r>
          </a:p>
          <a:p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81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58EC8D-68D1-4138-B719-BE00C78AD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4579E4-5B5F-42C9-B08F-A904C81B1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03E11-95CE-48E9-B227-532E5596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39059" y="2464788"/>
            <a:ext cx="5054601" cy="1922802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SDGs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F06F3-55E1-46F4-931F-30311684C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665" y="2064669"/>
            <a:ext cx="7258692" cy="2756713"/>
          </a:xfrm>
          <a:noFill/>
        </p:spPr>
        <p:txBody>
          <a:bodyPr anchor="t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03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health and Well Being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and Communities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16.6 – Strong Institutions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1BF6CF-E1B8-4EE2-9AE1-86A58DAFD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85DB6D-FD42-48F2-FFAB-03691700D951}"/>
              </a:ext>
            </a:extLst>
          </p:cNvPr>
          <p:cNvSpPr txBox="1">
            <a:spLocks/>
          </p:cNvSpPr>
          <p:nvPr/>
        </p:nvSpPr>
        <p:spPr>
          <a:xfrm>
            <a:off x="2961274" y="224235"/>
            <a:ext cx="4770684" cy="1153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SDGs Alignment</a:t>
            </a:r>
          </a:p>
        </p:txBody>
      </p:sp>
      <p:pic>
        <p:nvPicPr>
          <p:cNvPr id="9" name="Picture 8" descr="A green square with white text and a heart and pulse&#10;&#10;Description automatically generated">
            <a:extLst>
              <a:ext uri="{FF2B5EF4-FFF2-40B4-BE49-F238E27FC236}">
                <a16:creationId xmlns:a16="http://schemas.microsoft.com/office/drawing/2014/main" id="{95DC38A1-6A43-316C-56AE-D4CC5491D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334" y="1107202"/>
            <a:ext cx="1451622" cy="1451622"/>
          </a:xfrm>
          <a:prstGeom prst="rect">
            <a:avLst/>
          </a:prstGeom>
        </p:spPr>
      </p:pic>
      <p:pic>
        <p:nvPicPr>
          <p:cNvPr id="13" name="Picture 12" descr="A white and orange logo&#10;&#10;Description automatically generated with medium confidence">
            <a:extLst>
              <a:ext uri="{FF2B5EF4-FFF2-40B4-BE49-F238E27FC236}">
                <a16:creationId xmlns:a16="http://schemas.microsoft.com/office/drawing/2014/main" id="{CE0333EA-0247-1636-B3EB-3A5ABAA62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334" y="2687696"/>
            <a:ext cx="1451622" cy="14516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41AF0D-0178-0917-6CAD-641B93CE4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8334" y="4268190"/>
            <a:ext cx="1451622" cy="145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9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2B1F1-3639-A715-27F7-FA0FD762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B570C20-B50A-0ACB-5CA9-E692C8D8D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02E43E-9F99-65D7-F61C-4005B8432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0F62C-6961-9960-77B8-F9C4FDCEA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39059" y="2464788"/>
            <a:ext cx="5054601" cy="1922802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DB48A-AB21-2C9E-FCBD-9C9AADA2F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665" y="1722398"/>
            <a:ext cx="7258692" cy="4790520"/>
          </a:xfrm>
          <a:noFill/>
        </p:spPr>
        <p:txBody>
          <a:bodyPr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response time of Ambulance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Ambulances to cater all patient</a:t>
            </a: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ECB59E-0B94-97B6-2E8C-221C258D3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0C36C4-79A1-25B3-C4AD-F3B200775EDF}"/>
              </a:ext>
            </a:extLst>
          </p:cNvPr>
          <p:cNvSpPr txBox="1">
            <a:spLocks/>
          </p:cNvSpPr>
          <p:nvPr/>
        </p:nvSpPr>
        <p:spPr>
          <a:xfrm>
            <a:off x="2961274" y="224235"/>
            <a:ext cx="4770684" cy="1153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83780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99167-5E3D-A1F9-50F3-8881B410B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EEB1B2-0C16-3F3A-9B97-764C02874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7AD9E8-1462-24E8-F744-432649D5F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9AB0EB-81A7-D383-3942-79C203BFA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6" name="Picture 5" descr="A map of a city&#10;&#10;Description automatically generated">
            <a:extLst>
              <a:ext uri="{FF2B5EF4-FFF2-40B4-BE49-F238E27FC236}">
                <a16:creationId xmlns:a16="http://schemas.microsoft.com/office/drawing/2014/main" id="{7EF300D2-0071-6CA5-6721-C2B039B2B7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337" y="1579170"/>
            <a:ext cx="6375538" cy="4584656"/>
          </a:xfrm>
          <a:prstGeom prst="rect">
            <a:avLst/>
          </a:prstGeom>
        </p:spPr>
      </p:pic>
      <p:sp>
        <p:nvSpPr>
          <p:cNvPr id="41" name="Freeform 40">
            <a:extLst>
              <a:ext uri="{FF2B5EF4-FFF2-40B4-BE49-F238E27FC236}">
                <a16:creationId xmlns:a16="http://schemas.microsoft.com/office/drawing/2014/main" id="{720C382D-10CB-D499-0694-EA8B441E808D}"/>
              </a:ext>
            </a:extLst>
          </p:cNvPr>
          <p:cNvSpPr/>
          <p:nvPr/>
        </p:nvSpPr>
        <p:spPr>
          <a:xfrm>
            <a:off x="5830957" y="4019285"/>
            <a:ext cx="2060713" cy="738972"/>
          </a:xfrm>
          <a:custGeom>
            <a:avLst/>
            <a:gdLst>
              <a:gd name="connsiteX0" fmla="*/ 0 w 1555423"/>
              <a:gd name="connsiteY0" fmla="*/ 18854 h 548687"/>
              <a:gd name="connsiteX1" fmla="*/ 169683 w 1555423"/>
              <a:gd name="connsiteY1" fmla="*/ 311084 h 548687"/>
              <a:gd name="connsiteX2" fmla="*/ 197963 w 1555423"/>
              <a:gd name="connsiteY2" fmla="*/ 527901 h 548687"/>
              <a:gd name="connsiteX3" fmla="*/ 527901 w 1555423"/>
              <a:gd name="connsiteY3" fmla="*/ 509047 h 548687"/>
              <a:gd name="connsiteX4" fmla="*/ 970961 w 1555423"/>
              <a:gd name="connsiteY4" fmla="*/ 254524 h 548687"/>
              <a:gd name="connsiteX5" fmla="*/ 1027522 w 1555423"/>
              <a:gd name="connsiteY5" fmla="*/ 301658 h 548687"/>
              <a:gd name="connsiteX6" fmla="*/ 1555423 w 1555423"/>
              <a:gd name="connsiteY6" fmla="*/ 0 h 54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5423" h="548687">
                <a:moveTo>
                  <a:pt x="0" y="18854"/>
                </a:moveTo>
                <a:cubicBezTo>
                  <a:pt x="68344" y="122548"/>
                  <a:pt x="136689" y="226243"/>
                  <a:pt x="169683" y="311084"/>
                </a:cubicBezTo>
                <a:cubicBezTo>
                  <a:pt x="202677" y="395925"/>
                  <a:pt x="138260" y="494907"/>
                  <a:pt x="197963" y="527901"/>
                </a:cubicBezTo>
                <a:cubicBezTo>
                  <a:pt x="257666" y="560895"/>
                  <a:pt x="399068" y="554610"/>
                  <a:pt x="527901" y="509047"/>
                </a:cubicBezTo>
                <a:cubicBezTo>
                  <a:pt x="656734" y="463484"/>
                  <a:pt x="887691" y="289089"/>
                  <a:pt x="970961" y="254524"/>
                </a:cubicBezTo>
                <a:cubicBezTo>
                  <a:pt x="1054231" y="219959"/>
                  <a:pt x="930112" y="344079"/>
                  <a:pt x="1027522" y="301658"/>
                </a:cubicBezTo>
                <a:cubicBezTo>
                  <a:pt x="1124932" y="259237"/>
                  <a:pt x="1340177" y="129618"/>
                  <a:pt x="1555423" y="0"/>
                </a:cubicBezTo>
              </a:path>
            </a:pathLst>
          </a:cu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A85EE39-BF4C-C35F-E803-D307F301B969}"/>
              </a:ext>
            </a:extLst>
          </p:cNvPr>
          <p:cNvSpPr/>
          <p:nvPr/>
        </p:nvSpPr>
        <p:spPr>
          <a:xfrm>
            <a:off x="5088835" y="4019285"/>
            <a:ext cx="742121" cy="160698"/>
          </a:xfrm>
          <a:custGeom>
            <a:avLst/>
            <a:gdLst>
              <a:gd name="connsiteX0" fmla="*/ 537327 w 546234"/>
              <a:gd name="connsiteY0" fmla="*/ 73833 h 234919"/>
              <a:gd name="connsiteX1" fmla="*/ 490193 w 546234"/>
              <a:gd name="connsiteY1" fmla="*/ 7845 h 234919"/>
              <a:gd name="connsiteX2" fmla="*/ 113121 w 546234"/>
              <a:gd name="connsiteY2" fmla="*/ 234088 h 234919"/>
              <a:gd name="connsiteX3" fmla="*/ 0 w 546234"/>
              <a:gd name="connsiteY3" fmla="*/ 83260 h 234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34" h="234919">
                <a:moveTo>
                  <a:pt x="537327" y="73833"/>
                </a:moveTo>
                <a:cubicBezTo>
                  <a:pt x="549110" y="27484"/>
                  <a:pt x="560894" y="-18864"/>
                  <a:pt x="490193" y="7845"/>
                </a:cubicBezTo>
                <a:cubicBezTo>
                  <a:pt x="419492" y="34554"/>
                  <a:pt x="194820" y="221519"/>
                  <a:pt x="113121" y="234088"/>
                </a:cubicBezTo>
                <a:cubicBezTo>
                  <a:pt x="31422" y="246657"/>
                  <a:pt x="15711" y="113111"/>
                  <a:pt x="0" y="83260"/>
                </a:cubicBezTo>
              </a:path>
            </a:pathLst>
          </a:cu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4A3E7F65-3DF5-CE22-F3CE-22A63B798904}"/>
              </a:ext>
            </a:extLst>
          </p:cNvPr>
          <p:cNvSpPr/>
          <p:nvPr/>
        </p:nvSpPr>
        <p:spPr>
          <a:xfrm>
            <a:off x="7527236" y="2252871"/>
            <a:ext cx="728868" cy="1580720"/>
          </a:xfrm>
          <a:custGeom>
            <a:avLst/>
            <a:gdLst>
              <a:gd name="connsiteX0" fmla="*/ 419977 w 599811"/>
              <a:gd name="connsiteY0" fmla="*/ 1366886 h 1370021"/>
              <a:gd name="connsiteX1" fmla="*/ 589660 w 599811"/>
              <a:gd name="connsiteY1" fmla="*/ 1244338 h 1370021"/>
              <a:gd name="connsiteX2" fmla="*/ 156027 w 599811"/>
              <a:gd name="connsiteY2" fmla="*/ 546754 h 1370021"/>
              <a:gd name="connsiteX3" fmla="*/ 5198 w 599811"/>
              <a:gd name="connsiteY3" fmla="*/ 254523 h 1370021"/>
              <a:gd name="connsiteX4" fmla="*/ 316282 w 599811"/>
              <a:gd name="connsiteY4" fmla="*/ 0 h 137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9811" h="1370021">
                <a:moveTo>
                  <a:pt x="419977" y="1366886"/>
                </a:moveTo>
                <a:cubicBezTo>
                  <a:pt x="526814" y="1373956"/>
                  <a:pt x="633652" y="1381027"/>
                  <a:pt x="589660" y="1244338"/>
                </a:cubicBezTo>
                <a:cubicBezTo>
                  <a:pt x="545668" y="1107649"/>
                  <a:pt x="253437" y="711723"/>
                  <a:pt x="156027" y="546754"/>
                </a:cubicBezTo>
                <a:cubicBezTo>
                  <a:pt x="58617" y="381785"/>
                  <a:pt x="-21511" y="345649"/>
                  <a:pt x="5198" y="254523"/>
                </a:cubicBezTo>
                <a:cubicBezTo>
                  <a:pt x="31907" y="163397"/>
                  <a:pt x="174094" y="81698"/>
                  <a:pt x="316282" y="0"/>
                </a:cubicBezTo>
              </a:path>
            </a:pathLst>
          </a:cu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41DBD4-330B-67F2-4921-9D8A3B4A3734}"/>
              </a:ext>
            </a:extLst>
          </p:cNvPr>
          <p:cNvSpPr/>
          <p:nvPr/>
        </p:nvSpPr>
        <p:spPr>
          <a:xfrm>
            <a:off x="7866306" y="3793699"/>
            <a:ext cx="258417" cy="280767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C389DF-3895-2384-A1F7-32BB0E2067A8}"/>
              </a:ext>
            </a:extLst>
          </p:cNvPr>
          <p:cNvSpPr/>
          <p:nvPr/>
        </p:nvSpPr>
        <p:spPr>
          <a:xfrm>
            <a:off x="1892968" y="-2811"/>
            <a:ext cx="663854" cy="6858000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55EEB-0341-B719-F1B4-7343A36EC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822" y="131093"/>
            <a:ext cx="4006984" cy="1184410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Best Route</a:t>
            </a:r>
          </a:p>
        </p:txBody>
      </p:sp>
    </p:spTree>
    <p:extLst>
      <p:ext uri="{BB962C8B-B14F-4D97-AF65-F5344CB8AC3E}">
        <p14:creationId xmlns:p14="http://schemas.microsoft.com/office/powerpoint/2010/main" val="111101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56F76-CC8C-5C38-0537-D818FE7B0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B59101-B7F8-875F-EC18-432CEF309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3160E7-5F59-53CC-E01F-3FFFE247A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0FA713-6CF8-B5CE-C186-AFCF03AA3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6" name="Picture 5" descr="A map of a city&#10;&#10;Description automatically generated">
            <a:extLst>
              <a:ext uri="{FF2B5EF4-FFF2-40B4-BE49-F238E27FC236}">
                <a16:creationId xmlns:a16="http://schemas.microsoft.com/office/drawing/2014/main" id="{0FF2994B-D743-7AAE-743E-BD13C6EC0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262" y="1238194"/>
            <a:ext cx="6716058" cy="482952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E0E2EFE-EB12-50D6-EA01-9CDC76072223}"/>
              </a:ext>
            </a:extLst>
          </p:cNvPr>
          <p:cNvSpPr/>
          <p:nvPr/>
        </p:nvSpPr>
        <p:spPr>
          <a:xfrm>
            <a:off x="8088465" y="3544713"/>
            <a:ext cx="203199" cy="21033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29563E3-C1BA-FD7B-DF81-1581C6268C2B}"/>
              </a:ext>
            </a:extLst>
          </p:cNvPr>
          <p:cNvSpPr/>
          <p:nvPr/>
        </p:nvSpPr>
        <p:spPr>
          <a:xfrm>
            <a:off x="4708488" y="2368479"/>
            <a:ext cx="203199" cy="21033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7585AB-67F6-83DD-DC6B-11E1EF00D41B}"/>
              </a:ext>
            </a:extLst>
          </p:cNvPr>
          <p:cNvSpPr/>
          <p:nvPr/>
        </p:nvSpPr>
        <p:spPr>
          <a:xfrm>
            <a:off x="6096000" y="4653822"/>
            <a:ext cx="203199" cy="21033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AE8880-AD85-3653-1F18-98AB7882A804}"/>
              </a:ext>
            </a:extLst>
          </p:cNvPr>
          <p:cNvSpPr/>
          <p:nvPr/>
        </p:nvSpPr>
        <p:spPr>
          <a:xfrm>
            <a:off x="8849438" y="5167751"/>
            <a:ext cx="203199" cy="21033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A8C3CC-87F0-8F10-7BD8-FF6C9C91935C}"/>
              </a:ext>
            </a:extLst>
          </p:cNvPr>
          <p:cNvSpPr/>
          <p:nvPr/>
        </p:nvSpPr>
        <p:spPr>
          <a:xfrm>
            <a:off x="8233587" y="408761"/>
            <a:ext cx="203199" cy="21033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F7E1FB-197B-7EF5-6F3B-5F4AB9C7985E}"/>
              </a:ext>
            </a:extLst>
          </p:cNvPr>
          <p:cNvSpPr txBox="1"/>
          <p:nvPr/>
        </p:nvSpPr>
        <p:spPr>
          <a:xfrm>
            <a:off x="8436786" y="329263"/>
            <a:ext cx="195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9B1DD7-CDCB-2393-5493-B8A564798657}"/>
              </a:ext>
            </a:extLst>
          </p:cNvPr>
          <p:cNvSpPr/>
          <p:nvPr/>
        </p:nvSpPr>
        <p:spPr>
          <a:xfrm>
            <a:off x="3708396" y="4906956"/>
            <a:ext cx="203199" cy="21033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446FB1-7C56-75B1-9899-A5B07917A023}"/>
              </a:ext>
            </a:extLst>
          </p:cNvPr>
          <p:cNvSpPr/>
          <p:nvPr/>
        </p:nvSpPr>
        <p:spPr>
          <a:xfrm>
            <a:off x="8507894" y="1863110"/>
            <a:ext cx="203199" cy="21033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5D669FA-0E41-63EC-14F9-418B21D4389E}"/>
              </a:ext>
            </a:extLst>
          </p:cNvPr>
          <p:cNvSpPr/>
          <p:nvPr/>
        </p:nvSpPr>
        <p:spPr>
          <a:xfrm>
            <a:off x="4648099" y="3887569"/>
            <a:ext cx="203199" cy="21033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6A3C56-3B6B-FC4F-A02A-62E0777AD587}"/>
              </a:ext>
            </a:extLst>
          </p:cNvPr>
          <p:cNvSpPr/>
          <p:nvPr/>
        </p:nvSpPr>
        <p:spPr>
          <a:xfrm>
            <a:off x="8849439" y="3824389"/>
            <a:ext cx="203199" cy="21033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9E986E1-809E-4C23-16F8-3EB375D25983}"/>
              </a:ext>
            </a:extLst>
          </p:cNvPr>
          <p:cNvSpPr/>
          <p:nvPr/>
        </p:nvSpPr>
        <p:spPr>
          <a:xfrm>
            <a:off x="7077232" y="5012124"/>
            <a:ext cx="203199" cy="21033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C53D5B-66F9-F0BC-2F54-5898CF456961}"/>
              </a:ext>
            </a:extLst>
          </p:cNvPr>
          <p:cNvSpPr/>
          <p:nvPr/>
        </p:nvSpPr>
        <p:spPr>
          <a:xfrm>
            <a:off x="8233586" y="787774"/>
            <a:ext cx="203199" cy="21033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B70A98-5F17-A815-3908-68F02605E489}"/>
              </a:ext>
            </a:extLst>
          </p:cNvPr>
          <p:cNvSpPr txBox="1"/>
          <p:nvPr/>
        </p:nvSpPr>
        <p:spPr>
          <a:xfrm>
            <a:off x="8436786" y="691396"/>
            <a:ext cx="195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AFBA9C-F8A2-0822-E29E-2BC4D01A7D1F}"/>
              </a:ext>
            </a:extLst>
          </p:cNvPr>
          <p:cNvSpPr/>
          <p:nvPr/>
        </p:nvSpPr>
        <p:spPr>
          <a:xfrm>
            <a:off x="1892968" y="-2811"/>
            <a:ext cx="663854" cy="6858000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8B76D3-E3E4-E2BE-8D1C-8FC3E1E6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041" y="189946"/>
            <a:ext cx="5054601" cy="94033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Optimizing cases</a:t>
            </a:r>
          </a:p>
        </p:txBody>
      </p:sp>
    </p:spTree>
    <p:extLst>
      <p:ext uri="{BB962C8B-B14F-4D97-AF65-F5344CB8AC3E}">
        <p14:creationId xmlns:p14="http://schemas.microsoft.com/office/powerpoint/2010/main" val="170465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9DCC1C-E58D-256D-B350-121DFA4A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E48425-74D5-F32D-0840-4E8C3596B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874074-0BEA-8420-1BCA-8917D9A57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4DF713-1A8C-639E-59B3-18C1A7AAE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6" name="Picture 5" descr="A map of a city&#10;&#10;Description automatically generated">
            <a:extLst>
              <a:ext uri="{FF2B5EF4-FFF2-40B4-BE49-F238E27FC236}">
                <a16:creationId xmlns:a16="http://schemas.microsoft.com/office/drawing/2014/main" id="{4C01B9A4-7B17-0E89-8830-ECF9EC1DD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262" y="1238194"/>
            <a:ext cx="6716058" cy="482952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16C60AB-32D5-BB76-7891-95B77E4CA967}"/>
              </a:ext>
            </a:extLst>
          </p:cNvPr>
          <p:cNvSpPr/>
          <p:nvPr/>
        </p:nvSpPr>
        <p:spPr>
          <a:xfrm>
            <a:off x="8088465" y="3544713"/>
            <a:ext cx="203199" cy="21033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83C6E8-4CA8-B777-495E-C291BFCC7680}"/>
              </a:ext>
            </a:extLst>
          </p:cNvPr>
          <p:cNvSpPr/>
          <p:nvPr/>
        </p:nvSpPr>
        <p:spPr>
          <a:xfrm>
            <a:off x="8849438" y="5167751"/>
            <a:ext cx="203199" cy="21033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CF714C-8323-A84B-1193-E4FBD91E4995}"/>
              </a:ext>
            </a:extLst>
          </p:cNvPr>
          <p:cNvSpPr/>
          <p:nvPr/>
        </p:nvSpPr>
        <p:spPr>
          <a:xfrm>
            <a:off x="8233587" y="408761"/>
            <a:ext cx="203199" cy="21033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3BCCDF-D0BE-ADAB-48B2-66880A206563}"/>
              </a:ext>
            </a:extLst>
          </p:cNvPr>
          <p:cNvSpPr txBox="1"/>
          <p:nvPr/>
        </p:nvSpPr>
        <p:spPr>
          <a:xfrm>
            <a:off x="8436786" y="329263"/>
            <a:ext cx="195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19D5D1-3852-846A-5370-3CBD7109F704}"/>
              </a:ext>
            </a:extLst>
          </p:cNvPr>
          <p:cNvSpPr/>
          <p:nvPr/>
        </p:nvSpPr>
        <p:spPr>
          <a:xfrm>
            <a:off x="8507894" y="1863110"/>
            <a:ext cx="203199" cy="21033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FCD93F8-73FF-4ADE-3A23-12A866BF476F}"/>
              </a:ext>
            </a:extLst>
          </p:cNvPr>
          <p:cNvSpPr/>
          <p:nvPr/>
        </p:nvSpPr>
        <p:spPr>
          <a:xfrm>
            <a:off x="8849439" y="3824389"/>
            <a:ext cx="203199" cy="21033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F916A76-EF9B-D863-3003-6B3DA103ABCF}"/>
              </a:ext>
            </a:extLst>
          </p:cNvPr>
          <p:cNvSpPr/>
          <p:nvPr/>
        </p:nvSpPr>
        <p:spPr>
          <a:xfrm>
            <a:off x="8233586" y="787774"/>
            <a:ext cx="203199" cy="21033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5BCB2C-38FD-7C74-CB45-A5B6EEB615A0}"/>
              </a:ext>
            </a:extLst>
          </p:cNvPr>
          <p:cNvSpPr txBox="1"/>
          <p:nvPr/>
        </p:nvSpPr>
        <p:spPr>
          <a:xfrm>
            <a:off x="8436786" y="691396"/>
            <a:ext cx="195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0AAE6E-5A49-3DD7-0D20-4BFAB5E8A5AA}"/>
              </a:ext>
            </a:extLst>
          </p:cNvPr>
          <p:cNvSpPr/>
          <p:nvPr/>
        </p:nvSpPr>
        <p:spPr>
          <a:xfrm>
            <a:off x="1892968" y="-2811"/>
            <a:ext cx="663854" cy="6858000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74E09B-6AC6-D23A-B8FF-6AD3D9E56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041" y="189946"/>
            <a:ext cx="5054601" cy="94033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Optimizing cases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6D565A-A615-7D53-8156-6E87C924577C}"/>
              </a:ext>
            </a:extLst>
          </p:cNvPr>
          <p:cNvSpPr txBox="1"/>
          <p:nvPr/>
        </p:nvSpPr>
        <p:spPr>
          <a:xfrm>
            <a:off x="7779678" y="3465215"/>
            <a:ext cx="30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5CE6A1-3AA3-802F-5143-DCC1F0591435}"/>
              </a:ext>
            </a:extLst>
          </p:cNvPr>
          <p:cNvSpPr txBox="1"/>
          <p:nvPr/>
        </p:nvSpPr>
        <p:spPr>
          <a:xfrm>
            <a:off x="8341820" y="1944198"/>
            <a:ext cx="30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22AD57-6347-D88F-8EAD-36D0B94A3084}"/>
              </a:ext>
            </a:extLst>
          </p:cNvPr>
          <p:cNvSpPr txBox="1"/>
          <p:nvPr/>
        </p:nvSpPr>
        <p:spPr>
          <a:xfrm>
            <a:off x="8565132" y="3755049"/>
            <a:ext cx="30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9EBE53-F80B-94BF-F272-A69BA7479B7F}"/>
              </a:ext>
            </a:extLst>
          </p:cNvPr>
          <p:cNvSpPr txBox="1"/>
          <p:nvPr/>
        </p:nvSpPr>
        <p:spPr>
          <a:xfrm>
            <a:off x="8535801" y="5088253"/>
            <a:ext cx="30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4181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14" grpId="0" animBg="1"/>
      <p:bldP spid="16" grpId="0" animBg="1"/>
      <p:bldP spid="21" grpId="0"/>
      <p:bldP spid="22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0907B-2A02-FC81-A706-ECCAC3441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322752-E70D-C627-31AB-E11E8C4DE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676317-EFCC-C1FC-93A0-4A7882BC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1CE4A-DF9D-C0DB-B18D-48A2CC89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78082" y="2965197"/>
            <a:ext cx="5534528" cy="919581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Physics Interpretation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86347-40B4-3D52-A6F1-3CDC93E64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6" name="Picture 5" descr="A diagram of a wave&#10;&#10;Description automatically generated">
            <a:extLst>
              <a:ext uri="{FF2B5EF4-FFF2-40B4-BE49-F238E27FC236}">
                <a16:creationId xmlns:a16="http://schemas.microsoft.com/office/drawing/2014/main" id="{30972F82-B4CB-9A39-2603-E3548D2C5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944" y="1505362"/>
            <a:ext cx="5747760" cy="366091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83EE49F-362C-D590-9D78-AAFAB7214934}"/>
              </a:ext>
            </a:extLst>
          </p:cNvPr>
          <p:cNvSpPr/>
          <p:nvPr/>
        </p:nvSpPr>
        <p:spPr>
          <a:xfrm>
            <a:off x="1892968" y="-2811"/>
            <a:ext cx="663854" cy="6858000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CF59FE-F6A1-567E-C8E2-32C9E3F5FA41}"/>
              </a:ext>
            </a:extLst>
          </p:cNvPr>
          <p:cNvSpPr txBox="1">
            <a:spLocks/>
          </p:cNvSpPr>
          <p:nvPr/>
        </p:nvSpPr>
        <p:spPr>
          <a:xfrm>
            <a:off x="2517624" y="114300"/>
            <a:ext cx="5947425" cy="1153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Physics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FEF-4B2A-D310-D31D-369167B40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478" y="5339440"/>
            <a:ext cx="7258692" cy="1153081"/>
          </a:xfrm>
          <a:noFill/>
        </p:spPr>
        <p:txBody>
          <a:bodyPr anchor="t"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↔ energy minimization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state = Optimal solution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6046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644DF-D703-697B-2468-1A38F2D14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A2E73B-7BBA-448A-4DD0-FB76442B4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BE53FB-30E7-F6B9-BE94-AAA893464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D8BE28-3A6D-4A81-5484-B6235047E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C13F44-4468-E255-8DF0-E8135A19553B}"/>
              </a:ext>
            </a:extLst>
          </p:cNvPr>
          <p:cNvSpPr/>
          <p:nvPr/>
        </p:nvSpPr>
        <p:spPr>
          <a:xfrm>
            <a:off x="1892968" y="-2811"/>
            <a:ext cx="663854" cy="6858000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D66EF8-13C3-C87A-B115-2AB6801911ED}"/>
              </a:ext>
            </a:extLst>
          </p:cNvPr>
          <p:cNvSpPr txBox="1">
            <a:spLocks/>
          </p:cNvSpPr>
          <p:nvPr/>
        </p:nvSpPr>
        <p:spPr>
          <a:xfrm>
            <a:off x="2517624" y="114300"/>
            <a:ext cx="5947425" cy="1153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Problem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DCD3D-8727-3C31-2361-C61B70A06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478" y="1381682"/>
            <a:ext cx="7712554" cy="5110840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Variables:</a:t>
            </a:r>
          </a:p>
          <a:p>
            <a:pPr marL="1671400" lvl="6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6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Accidents: 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∈{1,…,N}</a:t>
            </a:r>
          </a:p>
          <a:p>
            <a:pPr marL="1671400" lvl="6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6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Ambulances: j ∈{1,…,M}</a:t>
            </a:r>
          </a:p>
          <a:p>
            <a:pPr marL="1671400" lvl="6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6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Hospitals: k ∈{1,…,K}</a:t>
            </a:r>
          </a:p>
          <a:p>
            <a:pPr marL="1671400" lvl="6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4189A4-08F5-1169-28A7-798100338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031" y="1890013"/>
            <a:ext cx="1671554" cy="912756"/>
          </a:xfrm>
          <a:prstGeom prst="rect">
            <a:avLst/>
          </a:prstGeom>
        </p:spPr>
      </p:pic>
      <p:pic>
        <p:nvPicPr>
          <p:cNvPr id="11" name="Picture 10" descr="A red and white ambulance sign&#10;&#10;Description automatically generated">
            <a:extLst>
              <a:ext uri="{FF2B5EF4-FFF2-40B4-BE49-F238E27FC236}">
                <a16:creationId xmlns:a16="http://schemas.microsoft.com/office/drawing/2014/main" id="{D20086E7-241E-09CF-3AAB-BE52AA1A6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9745" y="2917070"/>
            <a:ext cx="783132" cy="631922"/>
          </a:xfrm>
          <a:prstGeom prst="rect">
            <a:avLst/>
          </a:prstGeom>
        </p:spPr>
      </p:pic>
      <p:pic>
        <p:nvPicPr>
          <p:cNvPr id="15" name="Picture 14" descr="A black and white logo of a hospital&#10;&#10;Description automatically generated">
            <a:extLst>
              <a:ext uri="{FF2B5EF4-FFF2-40B4-BE49-F238E27FC236}">
                <a16:creationId xmlns:a16="http://schemas.microsoft.com/office/drawing/2014/main" id="{D17AF2AB-5887-36D9-287E-ECABDA4F5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1555" y="3526157"/>
            <a:ext cx="1058150" cy="105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9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4B438-C440-B625-4070-1312C114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08F345-64F1-CB98-729F-7515F02E7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D0454A-3564-8592-CA00-7F15F9113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F6FE89-6513-F61E-D36F-2320418D2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8A0CD6-0778-DB83-536E-EC5C20754491}"/>
              </a:ext>
            </a:extLst>
          </p:cNvPr>
          <p:cNvSpPr/>
          <p:nvPr/>
        </p:nvSpPr>
        <p:spPr>
          <a:xfrm>
            <a:off x="1892968" y="-2811"/>
            <a:ext cx="663854" cy="6858000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26977B-DC05-76D9-9EC8-562E45559BC5}"/>
              </a:ext>
            </a:extLst>
          </p:cNvPr>
          <p:cNvSpPr txBox="1">
            <a:spLocks/>
          </p:cNvSpPr>
          <p:nvPr/>
        </p:nvSpPr>
        <p:spPr>
          <a:xfrm>
            <a:off x="2517624" y="114300"/>
            <a:ext cx="5947425" cy="1153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2C4D1-CCCF-5E82-A78A-ED81B240E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478" y="1381682"/>
            <a:ext cx="7712554" cy="5110840"/>
          </a:xfrm>
          <a:noFill/>
        </p:spPr>
        <p:txBody>
          <a:bodyPr anchor="t">
            <a:normAutofit/>
          </a:bodyPr>
          <a:lstStyle/>
          <a:p>
            <a:pPr marL="1671400" lvl="6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ambulance = 1 accident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accident = 1 hospital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Specialty (ICU, CCU, burn, Maternity)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Capacity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71400" lvl="6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7517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2B98E-0D45-0509-1989-8AA645BF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7EBB7EC-2EB6-2DD7-6573-3BFE0538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7DB62E-1732-D1D0-CEFA-4F5FD0BEE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DA7D22-B484-0741-3F59-EEEEBBDF7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DBCF5-A89E-C5B2-5D85-0944229128D2}"/>
              </a:ext>
            </a:extLst>
          </p:cNvPr>
          <p:cNvSpPr/>
          <p:nvPr/>
        </p:nvSpPr>
        <p:spPr>
          <a:xfrm>
            <a:off x="1892968" y="-2811"/>
            <a:ext cx="663854" cy="6858000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27E594-3EFC-0ABE-15AB-A7EEC8E32382}"/>
              </a:ext>
            </a:extLst>
          </p:cNvPr>
          <p:cNvSpPr txBox="1">
            <a:spLocks/>
          </p:cNvSpPr>
          <p:nvPr/>
        </p:nvSpPr>
        <p:spPr>
          <a:xfrm>
            <a:off x="2517624" y="114300"/>
            <a:ext cx="5947425" cy="1153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QUBO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30028-AB9B-E0DE-6825-06ECD2531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478" y="1381682"/>
            <a:ext cx="7712554" cy="5110840"/>
          </a:xfrm>
          <a:noFill/>
        </p:spPr>
        <p:txBody>
          <a:bodyPr anchor="t">
            <a:normAutofit/>
          </a:bodyPr>
          <a:lstStyle/>
          <a:p>
            <a:pPr marL="1671400" lvl="6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71400" lvl="6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5" name="Picture 4" descr="A black symbols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917E753-FACD-274E-FE9E-0B60271AD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25" y="2622353"/>
            <a:ext cx="4476221" cy="13577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6CEBBB-D463-F9C1-648E-5A670BED7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291" y="1655121"/>
            <a:ext cx="9291197" cy="993942"/>
          </a:xfrm>
          <a:prstGeom prst="rect">
            <a:avLst/>
          </a:prstGeom>
        </p:spPr>
      </p:pic>
      <p:pic>
        <p:nvPicPr>
          <p:cNvPr id="2" name="Google Shape;408;p53" descr="A close-up of a symbol&#10;&#10;Description automatically generated">
            <a:extLst>
              <a:ext uri="{FF2B5EF4-FFF2-40B4-BE49-F238E27FC236}">
                <a16:creationId xmlns:a16="http://schemas.microsoft.com/office/drawing/2014/main" id="{F91FB2FA-23DB-D3A7-D0AA-D74C789F78E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24866" y="4964482"/>
            <a:ext cx="3078751" cy="1307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06;p5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C10FAD6E-550E-D555-CD88-19593BFB5C2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178" r="9074"/>
          <a:stretch/>
        </p:blipFill>
        <p:spPr>
          <a:xfrm>
            <a:off x="2621325" y="3937102"/>
            <a:ext cx="7993175" cy="138168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777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>
        <a:noFill/>
        <a:ln w="50800">
          <a:solidFill>
            <a:srgbClr val="C00000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1732</TotalTime>
  <Words>403</Words>
  <Application>Microsoft Macintosh PowerPoint</Application>
  <PresentationFormat>Widescreen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Century Schoolbook</vt:lpstr>
      <vt:lpstr>Times New Roman</vt:lpstr>
      <vt:lpstr>Wingdings 2</vt:lpstr>
      <vt:lpstr>View</vt:lpstr>
      <vt:lpstr>QRah-e-Shifa (Route to Cure)</vt:lpstr>
      <vt:lpstr>SDGs Alignment</vt:lpstr>
      <vt:lpstr>Objectives</vt:lpstr>
      <vt:lpstr>Best Route</vt:lpstr>
      <vt:lpstr>Optimizing cases</vt:lpstr>
      <vt:lpstr>Optimizing cases</vt:lpstr>
      <vt:lpstr>Physics Interpretation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QRah-e-Shifa (Route to Cure)</dc:title>
  <dc:creator>PMYLS</dc:creator>
  <cp:lastModifiedBy>Mehwish Roqaiya</cp:lastModifiedBy>
  <cp:revision>14</cp:revision>
  <dcterms:created xsi:type="dcterms:W3CDTF">2026-02-05T17:46:54Z</dcterms:created>
  <dcterms:modified xsi:type="dcterms:W3CDTF">2026-03-10T18:40:53Z</dcterms:modified>
</cp:coreProperties>
</file>